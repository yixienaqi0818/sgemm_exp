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3.svg" ContentType="image/svg+xml"/>
  <Override PartName="/ppt/media/image9.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6" r:id="rId3"/>
  </p:sldMasterIdLst>
  <p:notesMasterIdLst>
    <p:notesMasterId r:id="rId5"/>
  </p:notesMasterIdLst>
  <p:handoutMasterIdLst>
    <p:handoutMasterId r:id="rId10"/>
  </p:handoutMasterIdLst>
  <p:sldIdLst>
    <p:sldId id="258" r:id="rId4"/>
    <p:sldId id="1761" r:id="rId6"/>
    <p:sldId id="1762" r:id="rId7"/>
    <p:sldId id="1763" r:id="rId8"/>
    <p:sldId id="1746"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素材" id="{548E6020-DE2C-4A43-8C4A-E92BE1952416}">
          <p14:sldIdLst>
            <p14:sldId id="258"/>
            <p14:sldId id="1761"/>
            <p14:sldId id="1762"/>
            <p14:sldId id="1763"/>
            <p14:sldId id="1746"/>
          </p14:sldIdLst>
        </p14:section>
      </p14:sectionLst>
    </p:ext>
    <p:ext uri="{EFAFB233-063F-42B5-8137-9DF3F51BA10A}">
      <p15:sldGuideLst xmlns:p15="http://schemas.microsoft.com/office/powerpoint/2012/main">
        <p15:guide id="1" orient="horz" pos="214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F1CFF2A-D183-2AEC-6416-4B6FD34E21B5}" name="Silentes W" initials="SW" userId="bcb56a8fcc2fc3a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0001"/>
    <a:srgbClr val="BFBFBF"/>
    <a:srgbClr val="CEAB6E"/>
    <a:srgbClr val="A6A6A6"/>
    <a:srgbClr val="B1B1B1"/>
    <a:srgbClr val="063771"/>
    <a:srgbClr val="222A35"/>
    <a:srgbClr val="A23341"/>
    <a:srgbClr val="DCDCDC"/>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40" autoAdjust="0"/>
    <p:restoredTop sz="96580" autoAdjust="0"/>
  </p:normalViewPr>
  <p:slideViewPr>
    <p:cSldViewPr snapToGrid="0" showGuides="1">
      <p:cViewPr varScale="1">
        <p:scale>
          <a:sx n="42" d="100"/>
          <a:sy n="42" d="100"/>
        </p:scale>
        <p:origin x="42" y="201"/>
      </p:cViewPr>
      <p:guideLst>
        <p:guide orient="horz" pos="2140"/>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4118"/>
    </p:cViewPr>
  </p:sorterViewPr>
  <p:notesViewPr>
    <p:cSldViewPr snapToGrid="0">
      <p:cViewPr varScale="1">
        <p:scale>
          <a:sx n="49" d="100"/>
          <a:sy n="49" d="100"/>
        </p:scale>
        <p:origin x="1878" y="1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4" Type="http://schemas.microsoft.com/office/2018/10/relationships/authors" Target="authors.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FEFF4B-F750-45F7-9A12-6EE041448A1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ED03C2-72A6-4F8C-A030-C888FFAE705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9999-22BB-4EB1-820B-6F546983B5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5D99-2AE7-49F1-BB03-59E2BF5579C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77" name=""/>
        <p:cNvGrpSpPr/>
        <p:nvPr/>
      </p:nvGrpSpPr>
      <p:grpSpPr>
        <a:xfrm>
          <a:off x="0" y="0"/>
          <a:ext cx="0" cy="0"/>
          <a:chOff x="0" y="0"/>
          <a:chExt cx="0" cy="0"/>
        </a:xfrm>
      </p:grpSpPr>
      <p:sp>
        <p:nvSpPr>
          <p:cNvPr id="178" name="幻灯片图像占位符 1"/>
          <p:cNvSpPr>
            <a:spLocks noGrp="1" noRot="1" noChangeAspect="1"/>
          </p:cNvSpPr>
          <p:nvPr>
            <p:ph type="sldImg" idx="2147483647"/>
          </p:nvPr>
        </p:nvSpPr>
        <p:spPr/>
      </p:sp>
      <p:sp>
        <p:nvSpPr>
          <p:cNvPr id="179" name="备注占位符 2"/>
          <p:cNvSpPr>
            <a:spLocks noGrp="1"/>
          </p:cNvSpPr>
          <p:nvPr>
            <p:ph type="body" idx="1"/>
          </p:nvPr>
        </p:nvSpPr>
        <p:spPr/>
        <p:txBody>
          <a:bodyPr/>
          <a:lstStyle/>
          <a:p>
            <a:endParaRPr lang="zh-CN" altLang="en-US"/>
          </a:p>
        </p:txBody>
      </p:sp>
      <p:sp>
        <p:nvSpPr>
          <p:cNvPr id="180" name="灯片编号占位符 3"/>
          <p:cNvSpPr>
            <a:spLocks noGrp="1"/>
          </p:cNvSpPr>
          <p:nvPr>
            <p:ph type="sldNum" sz="quarter" idx="5"/>
          </p:nvPr>
        </p:nvSpPr>
        <p:spPr/>
        <p:txBody>
          <a:bodyPr/>
          <a:lstStyle/>
          <a:p>
            <a:fld id="{C2A75D99-2AE7-49F1-BB03-59E2BF5579C1}" type="slidenum">
              <a:rPr/>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77" name=""/>
        <p:cNvGrpSpPr/>
        <p:nvPr/>
      </p:nvGrpSpPr>
      <p:grpSpPr>
        <a:xfrm>
          <a:off x="0" y="0"/>
          <a:ext cx="0" cy="0"/>
          <a:chOff x="0" y="0"/>
          <a:chExt cx="0" cy="0"/>
        </a:xfrm>
      </p:grpSpPr>
      <p:sp>
        <p:nvSpPr>
          <p:cNvPr id="178" name="幻灯片图像占位符 1"/>
          <p:cNvSpPr>
            <a:spLocks noGrp="1" noRot="1" noChangeAspect="1"/>
          </p:cNvSpPr>
          <p:nvPr>
            <p:ph type="sldImg" idx="2147483647"/>
          </p:nvPr>
        </p:nvSpPr>
        <p:spPr/>
      </p:sp>
      <p:sp>
        <p:nvSpPr>
          <p:cNvPr id="179" name="备注占位符 2"/>
          <p:cNvSpPr>
            <a:spLocks noGrp="1"/>
          </p:cNvSpPr>
          <p:nvPr>
            <p:ph type="body" idx="1"/>
          </p:nvPr>
        </p:nvSpPr>
        <p:spPr/>
        <p:txBody>
          <a:bodyPr/>
          <a:lstStyle/>
          <a:p>
            <a:endParaRPr lang="zh-CN" altLang="en-US"/>
          </a:p>
        </p:txBody>
      </p:sp>
      <p:sp>
        <p:nvSpPr>
          <p:cNvPr id="180" name="灯片编号占位符 3"/>
          <p:cNvSpPr>
            <a:spLocks noGrp="1"/>
          </p:cNvSpPr>
          <p:nvPr>
            <p:ph type="sldNum" sz="quarter" idx="5"/>
          </p:nvPr>
        </p:nvSpPr>
        <p:spPr/>
        <p:txBody>
          <a:bodyPr/>
          <a:lstStyle/>
          <a:p>
            <a:fld id="{C2A75D99-2AE7-49F1-BB03-59E2BF5579C1}" type="slidenum">
              <a:rPr/>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77" name=""/>
        <p:cNvGrpSpPr/>
        <p:nvPr/>
      </p:nvGrpSpPr>
      <p:grpSpPr>
        <a:xfrm>
          <a:off x="0" y="0"/>
          <a:ext cx="0" cy="0"/>
          <a:chOff x="0" y="0"/>
          <a:chExt cx="0" cy="0"/>
        </a:xfrm>
      </p:grpSpPr>
      <p:sp>
        <p:nvSpPr>
          <p:cNvPr id="178" name="幻灯片图像占位符 1"/>
          <p:cNvSpPr>
            <a:spLocks noGrp="1" noRot="1" noChangeAspect="1"/>
          </p:cNvSpPr>
          <p:nvPr>
            <p:ph type="sldImg" idx="2147483647"/>
          </p:nvPr>
        </p:nvSpPr>
        <p:spPr/>
      </p:sp>
      <p:sp>
        <p:nvSpPr>
          <p:cNvPr id="179" name="备注占位符 2"/>
          <p:cNvSpPr>
            <a:spLocks noGrp="1"/>
          </p:cNvSpPr>
          <p:nvPr>
            <p:ph type="body" idx="1"/>
          </p:nvPr>
        </p:nvSpPr>
        <p:spPr/>
        <p:txBody>
          <a:bodyPr/>
          <a:lstStyle/>
          <a:p>
            <a:endParaRPr lang="zh-CN" altLang="en-US"/>
          </a:p>
        </p:txBody>
      </p:sp>
      <p:sp>
        <p:nvSpPr>
          <p:cNvPr id="180" name="灯片编号占位符 3"/>
          <p:cNvSpPr>
            <a:spLocks noGrp="1"/>
          </p:cNvSpPr>
          <p:nvPr>
            <p:ph type="sldNum" sz="quarter" idx="5"/>
          </p:nvPr>
        </p:nvSpPr>
        <p:spPr/>
        <p:txBody>
          <a:bodyPr/>
          <a:lstStyle/>
          <a:p>
            <a:fld id="{C2A75D99-2AE7-49F1-BB03-59E2BF5579C1}" type="slidenum">
              <a:rPr/>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endPar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endParaRP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微软雅黑"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211533" y="194929"/>
            <a:ext cx="2826774" cy="71479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pic>
        <p:nvPicPr>
          <p:cNvPr id="65" name="图片 64"/>
          <p:cNvPicPr>
            <a:picLocks noChangeAspect="1"/>
          </p:cNvPicPr>
          <p:nvPr userDrawn="1"/>
        </p:nvPicPr>
        <p:blipFill>
          <a:blip r:embed="rId2"/>
          <a:stretch>
            <a:fillRect/>
          </a:stretch>
        </p:blipFill>
        <p:spPr>
          <a:xfrm>
            <a:off x="-306519" y="5181511"/>
            <a:ext cx="1670449" cy="2054530"/>
          </a:xfrm>
          <a:prstGeom prst="rect">
            <a:avLst/>
          </a:prstGeom>
          <a:ln>
            <a:noFill/>
          </a:ln>
        </p:spPr>
      </p:pic>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国民表率 社会栋梁</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endParaRPr lang="zh-CN" altLang="en-US" dirty="0"/>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国民表率 社会栋梁</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0" y="1342400"/>
            <a:ext cx="12192000" cy="3121152"/>
          </a:xfrm>
        </p:spPr>
        <p:txBody>
          <a:bodyPr anchor="ctr"/>
          <a:lstStyle>
            <a:lvl1pPr algn="ctr">
              <a:defRPr/>
            </a:lvl1pPr>
          </a:lstStyle>
          <a:p>
            <a:r>
              <a:rPr lang="zh-CN" altLang="en-US" dirty="0"/>
              <a:t>单击此处修改图片</a:t>
            </a: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国民表率 社会栋梁</a:t>
            </a:r>
            <a:endParaRPr lang="zh-CN" altLang="en-US" sz="1200" dirty="0">
              <a:solidFill>
                <a:schemeClr val="tx1">
                  <a:lumMod val="50000"/>
                  <a:lumOff val="50000"/>
                </a:schemeClr>
              </a:solidFill>
              <a:cs typeface="+mn-ea"/>
              <a:sym typeface="+mn-lt"/>
            </a:endParaRP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endParaRPr lang="zh-CN" altLang="en-US" dirty="0"/>
          </a:p>
        </p:txBody>
      </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国民表率 社会栋梁</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国民表率 社会栋梁</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国民表率 社会栋梁</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国民表率 社会栋梁</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国民表率 社会栋梁</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EAA93BF-772A-4C92-B1DC-E6EFAA9B7E2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77F9130-EB6A-4866-830C-2DB68EFB30B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微软雅黑"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国民表率 社会栋梁</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rcRect l="5991" r="32854"/>
          <a:stretch>
            <a:fillRect/>
          </a:stretch>
        </p:blipFill>
        <p:spPr>
          <a:xfrm>
            <a:off x="9149187" y="163855"/>
            <a:ext cx="2826774" cy="71479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1" Type="http://schemas.openxmlformats.org/officeDocument/2006/relationships/theme" Target="../theme/theme2.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8.xml"/><Relationship Id="rId5" Type="http://schemas.openxmlformats.org/officeDocument/2006/relationships/image" Target="../media/image9.webp"/><Relationship Id="rId4" Type="http://schemas.openxmlformats.org/officeDocument/2006/relationships/image" Target="../media/image8.png"/><Relationship Id="rId3" Type="http://schemas.openxmlformats.org/officeDocument/2006/relationships/tags" Target="../tags/tag2.xml"/><Relationship Id="rId2" Type="http://schemas.openxmlformats.org/officeDocument/2006/relationships/image" Target="../media/image7.jpe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tags" Target="../tags/tag4.xml"/><Relationship Id="rId2" Type="http://schemas.openxmlformats.org/officeDocument/2006/relationships/image" Target="../media/image7.jpeg"/><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8.xml"/><Relationship Id="rId4" Type="http://schemas.openxmlformats.org/officeDocument/2006/relationships/image" Target="../media/image13.png"/><Relationship Id="rId3" Type="http://schemas.openxmlformats.org/officeDocument/2006/relationships/tags" Target="../tags/tag6.xml"/><Relationship Id="rId2" Type="http://schemas.openxmlformats.org/officeDocument/2006/relationships/image" Target="../media/image7.jpeg"/><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457200" y="428625"/>
            <a:ext cx="3457575" cy="10668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占位符 68"/>
          <p:cNvSpPr>
            <a:spLocks noGrp="1"/>
          </p:cNvSpPr>
          <p:nvPr>
            <p:ph type="body" sz="quarter" idx="10"/>
          </p:nvPr>
        </p:nvSpPr>
        <p:spPr>
          <a:xfrm>
            <a:off x="951459" y="2593509"/>
            <a:ext cx="8580467" cy="1304820"/>
          </a:xfrm>
        </p:spPr>
        <p:txBody>
          <a:bodyPr>
            <a:noAutofit/>
          </a:bodyPr>
          <a:lstStyle/>
          <a:p>
            <a:r>
              <a:rPr lang="en-US" altLang="zh-CN" sz="3600" dirty="0"/>
              <a:t>Progressive Optimization of SGEMM on GPUs:</a:t>
            </a:r>
            <a:endParaRPr lang="en-US" altLang="zh-CN" sz="3600" dirty="0"/>
          </a:p>
          <a:p>
            <a:r>
              <a:rPr lang="en-US" altLang="zh-CN" sz="3600" dirty="0"/>
              <a:t>From CUDA Cores to Tensor Cores </a:t>
            </a:r>
            <a:endParaRPr lang="en-US" altLang="zh-CN" sz="3600" dirty="0"/>
          </a:p>
        </p:txBody>
      </p:sp>
      <p:sp>
        <p:nvSpPr>
          <p:cNvPr id="70" name="矩形 69"/>
          <p:cNvSpPr/>
          <p:nvPr/>
        </p:nvSpPr>
        <p:spPr>
          <a:xfrm>
            <a:off x="0" y="1081068"/>
            <a:ext cx="12192000" cy="7078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1"/>
          <a:srcRect r="35679"/>
          <a:stretch>
            <a:fillRect/>
          </a:stretch>
        </p:blipFill>
        <p:spPr>
          <a:xfrm>
            <a:off x="-233907" y="1282183"/>
            <a:ext cx="3607490" cy="860460"/>
          </a:xfrm>
          <a:prstGeom prst="rect">
            <a:avLst/>
          </a:prstGeom>
        </p:spPr>
      </p:pic>
      <p:sp>
        <p:nvSpPr>
          <p:cNvPr id="2" name="文本框 1"/>
          <p:cNvSpPr txBox="1"/>
          <p:nvPr/>
        </p:nvSpPr>
        <p:spPr>
          <a:xfrm>
            <a:off x="951459" y="4403148"/>
            <a:ext cx="7056467" cy="368300"/>
          </a:xfrm>
          <a:prstGeom prst="rect">
            <a:avLst/>
          </a:prstGeom>
          <a:noFill/>
        </p:spPr>
        <p:txBody>
          <a:bodyPr wrap="square" rtlCol="0">
            <a:spAutoFit/>
          </a:bodyPr>
          <a:lstStyle/>
          <a:p>
            <a:r>
              <a:rPr lang="zh-CN" b="1" dirty="0">
                <a:solidFill>
                  <a:schemeClr val="bg1"/>
                </a:solidFill>
                <a:latin typeface="+mn-ea"/>
                <a:ea typeface="+mn-ea"/>
                <a:sym typeface="Arial" panose="020B0604020202020204" pitchFamily="34" charset="0"/>
              </a:rPr>
              <a:t>汇报人：程宣赫</a:t>
            </a:r>
            <a:endParaRPr lang="en-US" altLang="zh-CN" b="1" dirty="0">
              <a:solidFill>
                <a:schemeClr val="bg1"/>
              </a:solidFill>
              <a:latin typeface="+mn-ea"/>
              <a:ea typeface="+mn-ea"/>
              <a:sym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32" name=""/>
        <p:cNvGrpSpPr/>
        <p:nvPr/>
      </p:nvGrpSpPr>
      <p:grpSpPr>
        <a:xfrm>
          <a:off x="0" y="0"/>
          <a:ext cx="0" cy="0"/>
          <a:chOff x="0" y="0"/>
          <a:chExt cx="0" cy="0"/>
        </a:xfrm>
      </p:grpSpPr>
      <p:pic>
        <p:nvPicPr>
          <p:cNvPr id="674" name="图片 3"/>
          <p:cNvPicPr>
            <a:picLocks noChangeAspect="1"/>
          </p:cNvPicPr>
          <p:nvPr>
            <p:custDataLst>
              <p:tags r:id="rId1"/>
            </p:custDataLst>
          </p:nvPr>
        </p:nvPicPr>
        <p:blipFill rotWithShape="1">
          <a:blip r:embed="rId2" cstate="print">
            <a:alphaModFix amt="9000"/>
            <a:clrChange>
              <a:clrFrom>
                <a:srgbClr val="FCFCF4"/>
              </a:clrFrom>
              <a:clrTo>
                <a:srgbClr val="FCFCF4">
                  <a:alpha val="0"/>
                </a:srgbClr>
              </a:clrTo>
            </a:clrChange>
            <a:duotone>
              <a:prstClr val="black"/>
              <a:srgbClr val="AF0C2B">
                <a:tint val="45000"/>
                <a:satMod val="400000"/>
              </a:srgbClr>
            </a:duotone>
          </a:blip>
          <a:srcRect/>
          <a:stretch>
            <a:fillRect/>
          </a:stretch>
        </p:blipFill>
        <p:spPr>
          <a:xfrm rot="16200000">
            <a:off x="823568" y="137300"/>
            <a:ext cx="2399292" cy="4085892"/>
          </a:xfrm>
          <a:prstGeom prst="rect">
            <a:avLst/>
          </a:prstGeom>
          <a:ln>
            <a:noFill/>
          </a:ln>
        </p:spPr>
      </p:pic>
      <p:sp>
        <p:nvSpPr>
          <p:cNvPr id="890" name="pointer-spot-tool-for-maps_40028"/>
          <p:cNvSpPr>
            <a:spLocks noChangeAspect="1"/>
          </p:cNvSpPr>
          <p:nvPr>
            <p:custDataLst>
              <p:tags r:id="rId3"/>
            </p:custDataLst>
          </p:nvPr>
        </p:nvSpPr>
        <p:spPr bwMode="auto">
          <a:xfrm>
            <a:off x="2220070" y="1557467"/>
            <a:ext cx="298121" cy="326889"/>
          </a:xfrm>
          <a:custGeom>
            <a:avLst/>
            <a:gdLst>
              <a:gd name="connsiteX0" fmla="*/ 130776 w 510187"/>
              <a:gd name="connsiteY0" fmla="*/ 398252 h 559418"/>
              <a:gd name="connsiteX1" fmla="*/ 180826 w 510187"/>
              <a:gd name="connsiteY1" fmla="*/ 398252 h 559418"/>
              <a:gd name="connsiteX2" fmla="*/ 195356 w 510187"/>
              <a:gd name="connsiteY2" fmla="*/ 420815 h 559418"/>
              <a:gd name="connsiteX3" fmla="*/ 140463 w 510187"/>
              <a:gd name="connsiteY3" fmla="*/ 420815 h 559418"/>
              <a:gd name="connsiteX4" fmla="*/ 48435 w 510187"/>
              <a:gd name="connsiteY4" fmla="*/ 535243 h 559418"/>
              <a:gd name="connsiteX5" fmla="*/ 461752 w 510187"/>
              <a:gd name="connsiteY5" fmla="*/ 535243 h 559418"/>
              <a:gd name="connsiteX6" fmla="*/ 369724 w 510187"/>
              <a:gd name="connsiteY6" fmla="*/ 420815 h 559418"/>
              <a:gd name="connsiteX7" fmla="*/ 316445 w 510187"/>
              <a:gd name="connsiteY7" fmla="*/ 420815 h 559418"/>
              <a:gd name="connsiteX8" fmla="*/ 329361 w 510187"/>
              <a:gd name="connsiteY8" fmla="*/ 398252 h 559418"/>
              <a:gd name="connsiteX9" fmla="*/ 381026 w 510187"/>
              <a:gd name="connsiteY9" fmla="*/ 398252 h 559418"/>
              <a:gd name="connsiteX10" fmla="*/ 510187 w 510187"/>
              <a:gd name="connsiteY10" fmla="*/ 559418 h 559418"/>
              <a:gd name="connsiteX11" fmla="*/ 0 w 510187"/>
              <a:gd name="connsiteY11" fmla="*/ 559418 h 559418"/>
              <a:gd name="connsiteX12" fmla="*/ 254964 w 510187"/>
              <a:gd name="connsiteY12" fmla="*/ 79000 h 559418"/>
              <a:gd name="connsiteX13" fmla="*/ 175836 w 510187"/>
              <a:gd name="connsiteY13" fmla="*/ 159612 h 559418"/>
              <a:gd name="connsiteX14" fmla="*/ 254964 w 510187"/>
              <a:gd name="connsiteY14" fmla="*/ 238611 h 559418"/>
              <a:gd name="connsiteX15" fmla="*/ 335706 w 510187"/>
              <a:gd name="connsiteY15" fmla="*/ 159612 h 559418"/>
              <a:gd name="connsiteX16" fmla="*/ 254964 w 510187"/>
              <a:gd name="connsiteY16" fmla="*/ 79000 h 559418"/>
              <a:gd name="connsiteX17" fmla="*/ 254964 w 510187"/>
              <a:gd name="connsiteY17" fmla="*/ 0 h 559418"/>
              <a:gd name="connsiteX18" fmla="*/ 414834 w 510187"/>
              <a:gd name="connsiteY18" fmla="*/ 159612 h 559418"/>
              <a:gd name="connsiteX19" fmla="*/ 254964 w 510187"/>
              <a:gd name="connsiteY19" fmla="*/ 478835 h 559418"/>
              <a:gd name="connsiteX20" fmla="*/ 95093 w 510187"/>
              <a:gd name="connsiteY20" fmla="*/ 159612 h 559418"/>
              <a:gd name="connsiteX21" fmla="*/ 254964 w 510187"/>
              <a:gd name="connsiteY21" fmla="*/ 0 h 55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0" t="0" r="0" b="0"/>
            <a:pathLst>
              <a:path w="510187" h="559418">
                <a:moveTo>
                  <a:pt x="130776" y="398252"/>
                </a:moveTo>
                <a:lnTo>
                  <a:pt x="180826" y="398252"/>
                </a:lnTo>
                <a:cubicBezTo>
                  <a:pt x="185669" y="404699"/>
                  <a:pt x="190513" y="412757"/>
                  <a:pt x="195356" y="420815"/>
                </a:cubicBezTo>
                <a:lnTo>
                  <a:pt x="140463" y="420815"/>
                </a:lnTo>
                <a:lnTo>
                  <a:pt x="48435" y="535243"/>
                </a:lnTo>
                <a:lnTo>
                  <a:pt x="461752" y="535243"/>
                </a:lnTo>
                <a:lnTo>
                  <a:pt x="369724" y="420815"/>
                </a:lnTo>
                <a:lnTo>
                  <a:pt x="316445" y="420815"/>
                </a:lnTo>
                <a:cubicBezTo>
                  <a:pt x="319674" y="412757"/>
                  <a:pt x="324518" y="404699"/>
                  <a:pt x="329361" y="398252"/>
                </a:cubicBezTo>
                <a:lnTo>
                  <a:pt x="381026" y="398252"/>
                </a:lnTo>
                <a:lnTo>
                  <a:pt x="510187" y="559418"/>
                </a:lnTo>
                <a:lnTo>
                  <a:pt x="0" y="559418"/>
                </a:lnTo>
                <a:close/>
                <a:moveTo>
                  <a:pt x="254964" y="79000"/>
                </a:moveTo>
                <a:cubicBezTo>
                  <a:pt x="211363" y="79000"/>
                  <a:pt x="175836" y="116081"/>
                  <a:pt x="175836" y="159612"/>
                </a:cubicBezTo>
                <a:cubicBezTo>
                  <a:pt x="175836" y="203142"/>
                  <a:pt x="211363" y="238611"/>
                  <a:pt x="254964" y="238611"/>
                </a:cubicBezTo>
                <a:cubicBezTo>
                  <a:pt x="300179" y="238611"/>
                  <a:pt x="335706" y="203142"/>
                  <a:pt x="335706" y="159612"/>
                </a:cubicBezTo>
                <a:cubicBezTo>
                  <a:pt x="335706" y="116081"/>
                  <a:pt x="300179" y="79000"/>
                  <a:pt x="254964" y="79000"/>
                </a:cubicBezTo>
                <a:close/>
                <a:moveTo>
                  <a:pt x="254964" y="0"/>
                </a:moveTo>
                <a:cubicBezTo>
                  <a:pt x="343781" y="0"/>
                  <a:pt x="414834" y="70939"/>
                  <a:pt x="414834" y="159612"/>
                </a:cubicBezTo>
                <a:cubicBezTo>
                  <a:pt x="414834" y="246673"/>
                  <a:pt x="254964" y="478835"/>
                  <a:pt x="254964" y="478835"/>
                </a:cubicBezTo>
                <a:cubicBezTo>
                  <a:pt x="254964" y="478835"/>
                  <a:pt x="95093" y="246673"/>
                  <a:pt x="95093" y="159612"/>
                </a:cubicBezTo>
                <a:cubicBezTo>
                  <a:pt x="95093" y="70939"/>
                  <a:pt x="167761" y="0"/>
                  <a:pt x="254964" y="0"/>
                </a:cubicBezTo>
                <a:close/>
              </a:path>
            </a:pathLst>
          </a:custGeom>
          <a:solidFill>
            <a:schemeClr val="bg1"/>
          </a:solidFill>
          <a:ln>
            <a:noFill/>
          </a:ln>
        </p:spPr>
        <p:txBody>
          <a:bodyPr/>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4" name="标题 4"/>
          <p:cNvSpPr>
            <a:spLocks noGrp="1"/>
          </p:cNvSpPr>
          <p:nvPr>
            <p:ph type="title" idx="2147483647"/>
          </p:nvPr>
        </p:nvSpPr>
        <p:spPr/>
        <p:txBody>
          <a:bodyPr/>
          <a:lstStyle/>
          <a:p>
            <a:pPr>
              <a:buNone/>
            </a:pPr>
            <a:r>
              <a:rPr sz="3200">
                <a:latin typeface="华文楷体" panose="02010600040101010101" pitchFamily="2" charset="-122"/>
                <a:ea typeface="华文楷体" panose="02010600040101010101" pitchFamily="2" charset="-122"/>
              </a:rPr>
              <a:t>从</a:t>
            </a:r>
            <a:r>
              <a:rPr lang="en-US" altLang="zh-CN" sz="3200">
                <a:latin typeface="华文楷体" panose="02010600040101010101" pitchFamily="2" charset="-122"/>
                <a:ea typeface="华文楷体" panose="02010600040101010101" pitchFamily="2" charset="-122"/>
              </a:rPr>
              <a:t>CUDA Core</a:t>
            </a:r>
            <a:r>
              <a:rPr sz="3200">
                <a:latin typeface="华文楷体" panose="02010600040101010101" pitchFamily="2" charset="-122"/>
                <a:ea typeface="华文楷体" panose="02010600040101010101" pitchFamily="2" charset="-122"/>
              </a:rPr>
              <a:t>到</a:t>
            </a:r>
            <a:r>
              <a:rPr lang="en-US" altLang="zh-CN" sz="3200">
                <a:latin typeface="华文楷体" panose="02010600040101010101" pitchFamily="2" charset="-122"/>
                <a:ea typeface="华文楷体" panose="02010600040101010101" pitchFamily="2" charset="-122"/>
              </a:rPr>
              <a:t>Tensor Core</a:t>
            </a:r>
            <a:endParaRPr lang="en-US" altLang="zh-CN" sz="3200">
              <a:latin typeface="华文楷体" panose="02010600040101010101" pitchFamily="2" charset="-122"/>
              <a:ea typeface="华文楷体" panose="02010600040101010101" pitchFamily="2" charset="-122"/>
            </a:endParaRPr>
          </a:p>
        </p:txBody>
      </p:sp>
      <p:pic>
        <p:nvPicPr>
          <p:cNvPr id="4" name="图片 3" descr="ChatGPT Image 2025年12月22日 13_03_55"/>
          <p:cNvPicPr>
            <a:picLocks noChangeAspect="1"/>
          </p:cNvPicPr>
          <p:nvPr/>
        </p:nvPicPr>
        <p:blipFill>
          <a:blip r:embed="rId4"/>
          <a:srcRect t="12759" b="15389"/>
          <a:stretch>
            <a:fillRect/>
          </a:stretch>
        </p:blipFill>
        <p:spPr>
          <a:xfrm>
            <a:off x="1311275" y="980440"/>
            <a:ext cx="3912235" cy="4217035"/>
          </a:xfrm>
          <a:prstGeom prst="rect">
            <a:avLst/>
          </a:prstGeom>
        </p:spPr>
      </p:pic>
      <p:sp>
        <p:nvSpPr>
          <p:cNvPr id="46" name="右箭头 45"/>
          <p:cNvSpPr/>
          <p:nvPr/>
        </p:nvSpPr>
        <p:spPr>
          <a:xfrm>
            <a:off x="5499100" y="2503170"/>
            <a:ext cx="1066800" cy="83185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7" name="图片 46"/>
          <p:cNvPicPr/>
          <p:nvPr/>
        </p:nvPicPr>
        <p:blipFill>
          <a:blip r:embed="rId5"/>
          <a:srcRect t="7867" b="41467"/>
          <a:stretch>
            <a:fillRect/>
          </a:stretch>
        </p:blipFill>
        <p:spPr>
          <a:xfrm>
            <a:off x="7009765" y="1094740"/>
            <a:ext cx="4909185" cy="3957320"/>
          </a:xfrm>
          <a:prstGeom prst="rect">
            <a:avLst/>
          </a:prstGeom>
        </p:spPr>
      </p:pic>
      <p:sp>
        <p:nvSpPr>
          <p:cNvPr id="48" name="文本框 47"/>
          <p:cNvSpPr txBox="1"/>
          <p:nvPr/>
        </p:nvSpPr>
        <p:spPr>
          <a:xfrm>
            <a:off x="1216025" y="5367655"/>
            <a:ext cx="4533265" cy="1322070"/>
          </a:xfrm>
          <a:prstGeom prst="rect">
            <a:avLst/>
          </a:prstGeom>
          <a:noFill/>
        </p:spPr>
        <p:txBody>
          <a:bodyPr wrap="square" rtlCol="0">
            <a:spAutoFit/>
          </a:bodyPr>
          <a:p>
            <a:pPr algn="l"/>
            <a:r>
              <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rPr>
              <a:t>矩阵乘法通过</a:t>
            </a:r>
            <a:r>
              <a:rPr lang="en-US" altLang="zh-CN" sz="2000" dirty="0" smtClean="0">
                <a:latin typeface="Arial" panose="020B0604020202020204" pitchFamily="34" charset="0"/>
                <a:ea typeface="微软雅黑" panose="020B0503020204020204" pitchFamily="34" charset="-122"/>
                <a:cs typeface="+mn-ea"/>
                <a:sym typeface="Arial" panose="020B0604020202020204" pitchFamily="34" charset="0"/>
              </a:rPr>
              <a:t>Grid – Block – Thread </a:t>
            </a:r>
            <a:r>
              <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rPr>
              <a:t>映射到</a:t>
            </a:r>
            <a:r>
              <a:rPr lang="en-US" altLang="zh-CN" sz="2000" dirty="0" smtClean="0">
                <a:latin typeface="Arial" panose="020B0604020202020204" pitchFamily="34" charset="0"/>
                <a:ea typeface="微软雅黑" panose="020B0503020204020204" pitchFamily="34" charset="-122"/>
                <a:cs typeface="+mn-ea"/>
                <a:sym typeface="Arial" panose="020B0604020202020204" pitchFamily="34" charset="0"/>
              </a:rPr>
              <a:t> GPU</a:t>
            </a:r>
            <a:r>
              <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rPr>
              <a:t>：一个线程计算一个输出矩阵元素，通过线程内标量乘加操作完成计算。</a:t>
            </a:r>
            <a:endPar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文本框 48"/>
          <p:cNvSpPr txBox="1"/>
          <p:nvPr/>
        </p:nvSpPr>
        <p:spPr>
          <a:xfrm>
            <a:off x="6920865" y="5367655"/>
            <a:ext cx="4705350" cy="1322070"/>
          </a:xfrm>
          <a:prstGeom prst="rect">
            <a:avLst/>
          </a:prstGeom>
          <a:noFill/>
        </p:spPr>
        <p:txBody>
          <a:bodyPr wrap="square" rtlCol="0">
            <a:spAutoFit/>
          </a:bodyPr>
          <a:p>
            <a:pPr algn="l"/>
            <a:r>
              <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rPr>
              <a:t>而</a:t>
            </a:r>
            <a:r>
              <a:rPr lang="en-US" altLang="zh-CN" sz="2000" dirty="0" smtClean="0">
                <a:latin typeface="Arial" panose="020B0604020202020204" pitchFamily="34" charset="0"/>
                <a:ea typeface="微软雅黑" panose="020B0503020204020204" pitchFamily="34" charset="-122"/>
                <a:cs typeface="+mn-ea"/>
                <a:sym typeface="Arial" panose="020B0604020202020204" pitchFamily="34" charset="0"/>
              </a:rPr>
              <a:t>CUDA Core </a:t>
            </a:r>
            <a:r>
              <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rPr>
              <a:t>是</a:t>
            </a:r>
            <a:r>
              <a:rPr lang="en-US" altLang="zh-CN" sz="2000" dirty="0" smtClean="0">
                <a:latin typeface="Arial" panose="020B0604020202020204" pitchFamily="34" charset="0"/>
                <a:ea typeface="微软雅黑" panose="020B0503020204020204" pitchFamily="34" charset="-122"/>
                <a:cs typeface="+mn-ea"/>
                <a:sym typeface="Arial" panose="020B0604020202020204" pitchFamily="34" charset="0"/>
              </a:rPr>
              <a:t> GPU </a:t>
            </a:r>
            <a:r>
              <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rPr>
              <a:t>中执行上述标量运算的基本计算单元。每个</a:t>
            </a:r>
            <a:r>
              <a:rPr lang="en-US" altLang="zh-CN" sz="2000" dirty="0" smtClean="0">
                <a:latin typeface="Arial" panose="020B0604020202020204" pitchFamily="34" charset="0"/>
                <a:ea typeface="微软雅黑" panose="020B0503020204020204" pitchFamily="34" charset="-122"/>
                <a:cs typeface="+mn-ea"/>
                <a:sym typeface="Arial" panose="020B0604020202020204" pitchFamily="34" charset="0"/>
              </a:rPr>
              <a:t> CUDA Core </a:t>
            </a:r>
            <a:r>
              <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rPr>
              <a:t>主要包含一个</a:t>
            </a:r>
            <a:r>
              <a:rPr lang="en-US" altLang="zh-CN" sz="2000" dirty="0" smtClean="0">
                <a:latin typeface="Arial" panose="020B0604020202020204" pitchFamily="34" charset="0"/>
                <a:ea typeface="微软雅黑" panose="020B0503020204020204" pitchFamily="34" charset="-122"/>
                <a:cs typeface="+mn-ea"/>
                <a:sym typeface="Arial" panose="020B0604020202020204" pitchFamily="34" charset="0"/>
              </a:rPr>
              <a:t>ALU</a:t>
            </a:r>
            <a:r>
              <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rPr>
              <a:t>及一个</a:t>
            </a:r>
            <a:r>
              <a:rPr lang="en-US" altLang="zh-CN" sz="2000" dirty="0" smtClean="0">
                <a:latin typeface="Arial" panose="020B0604020202020204" pitchFamily="34" charset="0"/>
                <a:ea typeface="微软雅黑" panose="020B0503020204020204" pitchFamily="34" charset="-122"/>
                <a:cs typeface="+mn-ea"/>
                <a:sym typeface="Arial" panose="020B0604020202020204" pitchFamily="34" charset="0"/>
              </a:rPr>
              <a:t>FPU</a:t>
            </a:r>
            <a:r>
              <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rPr>
              <a:t>，是传统</a:t>
            </a:r>
            <a:r>
              <a:rPr lang="en-US" altLang="zh-CN" sz="2000" dirty="0" smtClean="0">
                <a:latin typeface="Arial" panose="020B0604020202020204" pitchFamily="34" charset="0"/>
                <a:ea typeface="微软雅黑" panose="020B0503020204020204" pitchFamily="34" charset="-122"/>
                <a:cs typeface="+mn-ea"/>
                <a:sym typeface="Arial" panose="020B0604020202020204" pitchFamily="34" charset="0"/>
              </a:rPr>
              <a:t> CUDA </a:t>
            </a:r>
            <a:r>
              <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rPr>
              <a:t>程序的主要算力来源。</a:t>
            </a:r>
            <a:endParaRPr lang="zh-CN" altLang="en-US" sz="2000" dirty="0" smtClean="0">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32" name=""/>
        <p:cNvGrpSpPr/>
        <p:nvPr/>
      </p:nvGrpSpPr>
      <p:grpSpPr>
        <a:xfrm>
          <a:off x="0" y="0"/>
          <a:ext cx="0" cy="0"/>
          <a:chOff x="0" y="0"/>
          <a:chExt cx="0" cy="0"/>
        </a:xfrm>
      </p:grpSpPr>
      <p:pic>
        <p:nvPicPr>
          <p:cNvPr id="674" name="图片 3"/>
          <p:cNvPicPr>
            <a:picLocks noChangeAspect="1"/>
          </p:cNvPicPr>
          <p:nvPr>
            <p:custDataLst>
              <p:tags r:id="rId1"/>
            </p:custDataLst>
          </p:nvPr>
        </p:nvPicPr>
        <p:blipFill rotWithShape="1">
          <a:blip r:embed="rId2" cstate="print">
            <a:alphaModFix amt="9000"/>
            <a:clrChange>
              <a:clrFrom>
                <a:srgbClr val="FCFCF4"/>
              </a:clrFrom>
              <a:clrTo>
                <a:srgbClr val="FCFCF4">
                  <a:alpha val="0"/>
                </a:srgbClr>
              </a:clrTo>
            </a:clrChange>
            <a:duotone>
              <a:prstClr val="black"/>
              <a:srgbClr val="AF0C2B">
                <a:tint val="45000"/>
                <a:satMod val="400000"/>
              </a:srgbClr>
            </a:duotone>
          </a:blip>
          <a:srcRect/>
          <a:stretch>
            <a:fillRect/>
          </a:stretch>
        </p:blipFill>
        <p:spPr>
          <a:xfrm rot="16200000">
            <a:off x="823568" y="137300"/>
            <a:ext cx="2399292" cy="4085892"/>
          </a:xfrm>
          <a:prstGeom prst="rect">
            <a:avLst/>
          </a:prstGeom>
          <a:ln>
            <a:noFill/>
          </a:ln>
        </p:spPr>
      </p:pic>
      <p:sp>
        <p:nvSpPr>
          <p:cNvPr id="890" name="pointer-spot-tool-for-maps_40028"/>
          <p:cNvSpPr>
            <a:spLocks noChangeAspect="1"/>
          </p:cNvSpPr>
          <p:nvPr>
            <p:custDataLst>
              <p:tags r:id="rId3"/>
            </p:custDataLst>
          </p:nvPr>
        </p:nvSpPr>
        <p:spPr bwMode="auto">
          <a:xfrm>
            <a:off x="2220070" y="1557467"/>
            <a:ext cx="298121" cy="326889"/>
          </a:xfrm>
          <a:custGeom>
            <a:avLst/>
            <a:gdLst>
              <a:gd name="connsiteX0" fmla="*/ 130776 w 510187"/>
              <a:gd name="connsiteY0" fmla="*/ 398252 h 559418"/>
              <a:gd name="connsiteX1" fmla="*/ 180826 w 510187"/>
              <a:gd name="connsiteY1" fmla="*/ 398252 h 559418"/>
              <a:gd name="connsiteX2" fmla="*/ 195356 w 510187"/>
              <a:gd name="connsiteY2" fmla="*/ 420815 h 559418"/>
              <a:gd name="connsiteX3" fmla="*/ 140463 w 510187"/>
              <a:gd name="connsiteY3" fmla="*/ 420815 h 559418"/>
              <a:gd name="connsiteX4" fmla="*/ 48435 w 510187"/>
              <a:gd name="connsiteY4" fmla="*/ 535243 h 559418"/>
              <a:gd name="connsiteX5" fmla="*/ 461752 w 510187"/>
              <a:gd name="connsiteY5" fmla="*/ 535243 h 559418"/>
              <a:gd name="connsiteX6" fmla="*/ 369724 w 510187"/>
              <a:gd name="connsiteY6" fmla="*/ 420815 h 559418"/>
              <a:gd name="connsiteX7" fmla="*/ 316445 w 510187"/>
              <a:gd name="connsiteY7" fmla="*/ 420815 h 559418"/>
              <a:gd name="connsiteX8" fmla="*/ 329361 w 510187"/>
              <a:gd name="connsiteY8" fmla="*/ 398252 h 559418"/>
              <a:gd name="connsiteX9" fmla="*/ 381026 w 510187"/>
              <a:gd name="connsiteY9" fmla="*/ 398252 h 559418"/>
              <a:gd name="connsiteX10" fmla="*/ 510187 w 510187"/>
              <a:gd name="connsiteY10" fmla="*/ 559418 h 559418"/>
              <a:gd name="connsiteX11" fmla="*/ 0 w 510187"/>
              <a:gd name="connsiteY11" fmla="*/ 559418 h 559418"/>
              <a:gd name="connsiteX12" fmla="*/ 254964 w 510187"/>
              <a:gd name="connsiteY12" fmla="*/ 79000 h 559418"/>
              <a:gd name="connsiteX13" fmla="*/ 175836 w 510187"/>
              <a:gd name="connsiteY13" fmla="*/ 159612 h 559418"/>
              <a:gd name="connsiteX14" fmla="*/ 254964 w 510187"/>
              <a:gd name="connsiteY14" fmla="*/ 238611 h 559418"/>
              <a:gd name="connsiteX15" fmla="*/ 335706 w 510187"/>
              <a:gd name="connsiteY15" fmla="*/ 159612 h 559418"/>
              <a:gd name="connsiteX16" fmla="*/ 254964 w 510187"/>
              <a:gd name="connsiteY16" fmla="*/ 79000 h 559418"/>
              <a:gd name="connsiteX17" fmla="*/ 254964 w 510187"/>
              <a:gd name="connsiteY17" fmla="*/ 0 h 559418"/>
              <a:gd name="connsiteX18" fmla="*/ 414834 w 510187"/>
              <a:gd name="connsiteY18" fmla="*/ 159612 h 559418"/>
              <a:gd name="connsiteX19" fmla="*/ 254964 w 510187"/>
              <a:gd name="connsiteY19" fmla="*/ 478835 h 559418"/>
              <a:gd name="connsiteX20" fmla="*/ 95093 w 510187"/>
              <a:gd name="connsiteY20" fmla="*/ 159612 h 559418"/>
              <a:gd name="connsiteX21" fmla="*/ 254964 w 510187"/>
              <a:gd name="connsiteY21" fmla="*/ 0 h 55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0" t="0" r="0" b="0"/>
            <a:pathLst>
              <a:path w="510187" h="559418">
                <a:moveTo>
                  <a:pt x="130776" y="398252"/>
                </a:moveTo>
                <a:lnTo>
                  <a:pt x="180826" y="398252"/>
                </a:lnTo>
                <a:cubicBezTo>
                  <a:pt x="185669" y="404699"/>
                  <a:pt x="190513" y="412757"/>
                  <a:pt x="195356" y="420815"/>
                </a:cubicBezTo>
                <a:lnTo>
                  <a:pt x="140463" y="420815"/>
                </a:lnTo>
                <a:lnTo>
                  <a:pt x="48435" y="535243"/>
                </a:lnTo>
                <a:lnTo>
                  <a:pt x="461752" y="535243"/>
                </a:lnTo>
                <a:lnTo>
                  <a:pt x="369724" y="420815"/>
                </a:lnTo>
                <a:lnTo>
                  <a:pt x="316445" y="420815"/>
                </a:lnTo>
                <a:cubicBezTo>
                  <a:pt x="319674" y="412757"/>
                  <a:pt x="324518" y="404699"/>
                  <a:pt x="329361" y="398252"/>
                </a:cubicBezTo>
                <a:lnTo>
                  <a:pt x="381026" y="398252"/>
                </a:lnTo>
                <a:lnTo>
                  <a:pt x="510187" y="559418"/>
                </a:lnTo>
                <a:lnTo>
                  <a:pt x="0" y="559418"/>
                </a:lnTo>
                <a:close/>
                <a:moveTo>
                  <a:pt x="254964" y="79000"/>
                </a:moveTo>
                <a:cubicBezTo>
                  <a:pt x="211363" y="79000"/>
                  <a:pt x="175836" y="116081"/>
                  <a:pt x="175836" y="159612"/>
                </a:cubicBezTo>
                <a:cubicBezTo>
                  <a:pt x="175836" y="203142"/>
                  <a:pt x="211363" y="238611"/>
                  <a:pt x="254964" y="238611"/>
                </a:cubicBezTo>
                <a:cubicBezTo>
                  <a:pt x="300179" y="238611"/>
                  <a:pt x="335706" y="203142"/>
                  <a:pt x="335706" y="159612"/>
                </a:cubicBezTo>
                <a:cubicBezTo>
                  <a:pt x="335706" y="116081"/>
                  <a:pt x="300179" y="79000"/>
                  <a:pt x="254964" y="79000"/>
                </a:cubicBezTo>
                <a:close/>
                <a:moveTo>
                  <a:pt x="254964" y="0"/>
                </a:moveTo>
                <a:cubicBezTo>
                  <a:pt x="343781" y="0"/>
                  <a:pt x="414834" y="70939"/>
                  <a:pt x="414834" y="159612"/>
                </a:cubicBezTo>
                <a:cubicBezTo>
                  <a:pt x="414834" y="246673"/>
                  <a:pt x="254964" y="478835"/>
                  <a:pt x="254964" y="478835"/>
                </a:cubicBezTo>
                <a:cubicBezTo>
                  <a:pt x="254964" y="478835"/>
                  <a:pt x="95093" y="246673"/>
                  <a:pt x="95093" y="159612"/>
                </a:cubicBezTo>
                <a:cubicBezTo>
                  <a:pt x="95093" y="70939"/>
                  <a:pt x="167761" y="0"/>
                  <a:pt x="254964" y="0"/>
                </a:cubicBezTo>
                <a:close/>
              </a:path>
            </a:pathLst>
          </a:custGeom>
          <a:solidFill>
            <a:schemeClr val="bg1"/>
          </a:solidFill>
          <a:ln>
            <a:noFill/>
          </a:ln>
        </p:spPr>
        <p:txBody>
          <a:bodyPr/>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4" name="标题 4"/>
          <p:cNvSpPr>
            <a:spLocks noGrp="1"/>
          </p:cNvSpPr>
          <p:nvPr>
            <p:ph type="title" idx="2147483647"/>
          </p:nvPr>
        </p:nvSpPr>
        <p:spPr/>
        <p:txBody>
          <a:bodyPr/>
          <a:lstStyle/>
          <a:p>
            <a:pPr>
              <a:buNone/>
            </a:pPr>
            <a:r>
              <a:rPr lang="en-US" altLang="zh-CN" sz="3200">
                <a:latin typeface="华文楷体" panose="02010600040101010101" pitchFamily="2" charset="-122"/>
                <a:ea typeface="华文楷体" panose="02010600040101010101" pitchFamily="2" charset="-122"/>
              </a:rPr>
              <a:t>Tensor Core</a:t>
            </a:r>
            <a:r>
              <a:rPr sz="3200">
                <a:latin typeface="华文楷体" panose="02010600040101010101" pitchFamily="2" charset="-122"/>
                <a:ea typeface="华文楷体" panose="02010600040101010101" pitchFamily="2" charset="-122"/>
              </a:rPr>
              <a:t>：硬件层面的矩阵乘加</a:t>
            </a:r>
            <a:endParaRPr sz="3200">
              <a:latin typeface="华文楷体" panose="02010600040101010101" pitchFamily="2" charset="-122"/>
              <a:ea typeface="华文楷体" panose="02010600040101010101" pitchFamily="2" charset="-122"/>
            </a:endParaRPr>
          </a:p>
        </p:txBody>
      </p:sp>
      <p:sp>
        <p:nvSpPr>
          <p:cNvPr id="2" name="文本框 1"/>
          <p:cNvSpPr txBox="1"/>
          <p:nvPr/>
        </p:nvSpPr>
        <p:spPr>
          <a:xfrm>
            <a:off x="1033145" y="1736090"/>
            <a:ext cx="5741670" cy="2524125"/>
          </a:xfrm>
          <a:prstGeom prst="rect">
            <a:avLst/>
          </a:prstGeom>
          <a:noFill/>
        </p:spPr>
        <p:txBody>
          <a:bodyPr wrap="square">
            <a:spAutoFit/>
          </a:bodyPr>
          <a:lstStyle/>
          <a:p>
            <a:pPr>
              <a:lnSpc>
                <a:spcPct val="115000"/>
              </a:lnSpc>
              <a:spcAft>
                <a:spcPts val="800"/>
              </a:spcAft>
              <a:buNone/>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不同于以</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thread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为基本计算单元、由单个线程在</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CUDA Core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上执行标量运算的传统执行模式</a:t>
            </a:r>
            <a:endPar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15000"/>
              </a:lnSpc>
              <a:spcAft>
                <a:spcPts val="800"/>
              </a:spcAft>
              <a:buNone/>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WMMA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以</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warp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为基本计算单元。一个</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warp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下的</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4*4</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个线程对应一个</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Tensor Core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15000"/>
              </a:lnSpc>
              <a:spcAft>
                <a:spcPts val="800"/>
              </a:spcAft>
              <a:buNone/>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矩阵数据首先以</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fragment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的形式分布存储在同一</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warp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各线程的寄存器中。随后，</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warp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发射一次</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MMA</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Matrix Multiply-Accumulate</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指令，硬件将这些寄存器中的</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fragment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按既定布局送入</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Tensor Core</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，逐拍完成块级矩阵乘加运算，并将结果累加写回到寄存器中的</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accumulator fragment</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1033145" y="1169670"/>
            <a:ext cx="1956435" cy="4362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mn-ea"/>
              </a:rPr>
              <a:t>整体结构</a:t>
            </a:r>
            <a:endParaRPr lang="zh-CN" altLang="en-US" b="1" dirty="0">
              <a:latin typeface="+mn-ea"/>
            </a:endParaRPr>
          </a:p>
        </p:txBody>
      </p:sp>
      <p:pic>
        <p:nvPicPr>
          <p:cNvPr id="8" name="图片 7" descr="ChatGPT Image 2025年12月22日 15_48_58"/>
          <p:cNvPicPr>
            <a:picLocks noChangeAspect="1"/>
          </p:cNvPicPr>
          <p:nvPr/>
        </p:nvPicPr>
        <p:blipFill>
          <a:blip r:embed="rId4"/>
          <a:srcRect l="26504" t="20377" r="26897" b="24182"/>
          <a:stretch>
            <a:fillRect/>
          </a:stretch>
        </p:blipFill>
        <p:spPr>
          <a:xfrm>
            <a:off x="7181850" y="3710940"/>
            <a:ext cx="1964055" cy="1770380"/>
          </a:xfrm>
          <a:prstGeom prst="rect">
            <a:avLst/>
          </a:prstGeom>
        </p:spPr>
      </p:pic>
      <p:pic>
        <p:nvPicPr>
          <p:cNvPr id="10" name="图片 9" descr="ChatGPT Image 2025年12月22日 15_50_51"/>
          <p:cNvPicPr>
            <a:picLocks noChangeAspect="1"/>
          </p:cNvPicPr>
          <p:nvPr/>
        </p:nvPicPr>
        <p:blipFill>
          <a:blip r:embed="rId5"/>
          <a:srcRect l="27988" t="21381" r="27825" b="26836"/>
          <a:stretch>
            <a:fillRect/>
          </a:stretch>
        </p:blipFill>
        <p:spPr>
          <a:xfrm>
            <a:off x="9829800" y="1346200"/>
            <a:ext cx="1908175" cy="1538605"/>
          </a:xfrm>
          <a:prstGeom prst="rect">
            <a:avLst/>
          </a:prstGeom>
        </p:spPr>
      </p:pic>
      <p:sp>
        <p:nvSpPr>
          <p:cNvPr id="11" name="右箭头 10"/>
          <p:cNvSpPr/>
          <p:nvPr/>
        </p:nvSpPr>
        <p:spPr>
          <a:xfrm>
            <a:off x="9145905" y="4027170"/>
            <a:ext cx="527050" cy="3429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右箭头 11"/>
          <p:cNvSpPr/>
          <p:nvPr/>
        </p:nvSpPr>
        <p:spPr>
          <a:xfrm>
            <a:off x="9145905" y="4724400"/>
            <a:ext cx="527050" cy="3429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右箭头 12"/>
          <p:cNvSpPr/>
          <p:nvPr/>
        </p:nvSpPr>
        <p:spPr>
          <a:xfrm rot="5400000">
            <a:off x="10149205" y="3072765"/>
            <a:ext cx="527050" cy="3429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右箭头 13"/>
          <p:cNvSpPr/>
          <p:nvPr/>
        </p:nvSpPr>
        <p:spPr>
          <a:xfrm rot="5400000">
            <a:off x="10930255" y="3072765"/>
            <a:ext cx="527050" cy="3429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5" name="图片 14" descr="ChatGPT Image 2025年12月22日 15_54_18"/>
          <p:cNvPicPr>
            <a:picLocks noChangeAspect="1"/>
          </p:cNvPicPr>
          <p:nvPr/>
        </p:nvPicPr>
        <p:blipFill>
          <a:blip r:embed="rId6"/>
          <a:srcRect l="27642" t="22056" r="27790" b="24148"/>
          <a:stretch>
            <a:fillRect/>
          </a:stretch>
        </p:blipFill>
        <p:spPr>
          <a:xfrm>
            <a:off x="9829165" y="3710305"/>
            <a:ext cx="1908810" cy="1770380"/>
          </a:xfrm>
          <a:prstGeom prst="rect">
            <a:avLst/>
          </a:prstGeom>
        </p:spPr>
      </p:pic>
      <p:sp>
        <p:nvSpPr>
          <p:cNvPr id="16" name="文本框 15"/>
          <p:cNvSpPr txBox="1"/>
          <p:nvPr/>
        </p:nvSpPr>
        <p:spPr>
          <a:xfrm>
            <a:off x="1033145" y="4826635"/>
            <a:ext cx="5741670" cy="1926590"/>
          </a:xfrm>
          <a:prstGeom prst="rect">
            <a:avLst/>
          </a:prstGeom>
          <a:noFill/>
        </p:spPr>
        <p:txBody>
          <a:bodyPr wrap="square">
            <a:spAutoFit/>
          </a:bodyPr>
          <a:lstStyle/>
          <a:p>
            <a:pPr>
              <a:lnSpc>
                <a:spcPct val="115000"/>
              </a:lnSpc>
              <a:spcAft>
                <a:spcPts val="800"/>
              </a:spcAft>
              <a:buNone/>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在更细粒度上，</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Tensor Core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内部可以抽象为由多个处理单元组成的并行乘加阵列。每个</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PE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负责执行最基本的乘加操作，即从输入的矩阵块中取出对应位置的元素，对其执行</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𝑎</a:t>
            </a:r>
            <a:r>
              <a:rPr lang="en-US"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𝑏运算，并将乘积累加到对应的部分和上。</a:t>
            </a:r>
            <a:endPar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15000"/>
              </a:lnSpc>
              <a:spcAft>
                <a:spcPts val="800"/>
              </a:spcAft>
              <a:buNone/>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多个</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PE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在同一时钟周期内并行工作，分别生成输出矩阵块中不同位置的部分结果，随后由硬件完成这些部分和的组织与累加，形成最终的输出矩阵块。</a:t>
            </a:r>
            <a:endPar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矩形 16"/>
          <p:cNvSpPr/>
          <p:nvPr/>
        </p:nvSpPr>
        <p:spPr>
          <a:xfrm>
            <a:off x="1033145" y="4260215"/>
            <a:ext cx="1956435" cy="4362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PE</a:t>
            </a:r>
            <a:r>
              <a:rPr lang="zh-CN" altLang="en-US" b="1" dirty="0">
                <a:latin typeface="+mn-ea"/>
              </a:rPr>
              <a:t>细分</a:t>
            </a:r>
            <a:endParaRPr lang="zh-CN" altLang="en-US" b="1" dirty="0">
              <a:latin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32" name=""/>
        <p:cNvGrpSpPr/>
        <p:nvPr/>
      </p:nvGrpSpPr>
      <p:grpSpPr>
        <a:xfrm>
          <a:off x="0" y="0"/>
          <a:ext cx="0" cy="0"/>
          <a:chOff x="0" y="0"/>
          <a:chExt cx="0" cy="0"/>
        </a:xfrm>
      </p:grpSpPr>
      <p:pic>
        <p:nvPicPr>
          <p:cNvPr id="674" name="图片 3"/>
          <p:cNvPicPr>
            <a:picLocks noChangeAspect="1"/>
          </p:cNvPicPr>
          <p:nvPr>
            <p:custDataLst>
              <p:tags r:id="rId1"/>
            </p:custDataLst>
          </p:nvPr>
        </p:nvPicPr>
        <p:blipFill rotWithShape="1">
          <a:blip r:embed="rId2" cstate="print">
            <a:alphaModFix amt="9000"/>
            <a:clrChange>
              <a:clrFrom>
                <a:srgbClr val="FCFCF4"/>
              </a:clrFrom>
              <a:clrTo>
                <a:srgbClr val="FCFCF4">
                  <a:alpha val="0"/>
                </a:srgbClr>
              </a:clrTo>
            </a:clrChange>
            <a:duotone>
              <a:prstClr val="black"/>
              <a:srgbClr val="AF0C2B">
                <a:tint val="45000"/>
                <a:satMod val="400000"/>
              </a:srgbClr>
            </a:duotone>
          </a:blip>
          <a:srcRect/>
          <a:stretch>
            <a:fillRect/>
          </a:stretch>
        </p:blipFill>
        <p:spPr>
          <a:xfrm rot="16200000">
            <a:off x="823568" y="137300"/>
            <a:ext cx="2399292" cy="4085892"/>
          </a:xfrm>
          <a:prstGeom prst="rect">
            <a:avLst/>
          </a:prstGeom>
          <a:ln>
            <a:noFill/>
          </a:ln>
        </p:spPr>
      </p:pic>
      <p:sp>
        <p:nvSpPr>
          <p:cNvPr id="890" name="pointer-spot-tool-for-maps_40028"/>
          <p:cNvSpPr>
            <a:spLocks noChangeAspect="1"/>
          </p:cNvSpPr>
          <p:nvPr>
            <p:custDataLst>
              <p:tags r:id="rId3"/>
            </p:custDataLst>
          </p:nvPr>
        </p:nvSpPr>
        <p:spPr bwMode="auto">
          <a:xfrm>
            <a:off x="2220070" y="1557467"/>
            <a:ext cx="298121" cy="326889"/>
          </a:xfrm>
          <a:custGeom>
            <a:avLst/>
            <a:gdLst>
              <a:gd name="connsiteX0" fmla="*/ 130776 w 510187"/>
              <a:gd name="connsiteY0" fmla="*/ 398252 h 559418"/>
              <a:gd name="connsiteX1" fmla="*/ 180826 w 510187"/>
              <a:gd name="connsiteY1" fmla="*/ 398252 h 559418"/>
              <a:gd name="connsiteX2" fmla="*/ 195356 w 510187"/>
              <a:gd name="connsiteY2" fmla="*/ 420815 h 559418"/>
              <a:gd name="connsiteX3" fmla="*/ 140463 w 510187"/>
              <a:gd name="connsiteY3" fmla="*/ 420815 h 559418"/>
              <a:gd name="connsiteX4" fmla="*/ 48435 w 510187"/>
              <a:gd name="connsiteY4" fmla="*/ 535243 h 559418"/>
              <a:gd name="connsiteX5" fmla="*/ 461752 w 510187"/>
              <a:gd name="connsiteY5" fmla="*/ 535243 h 559418"/>
              <a:gd name="connsiteX6" fmla="*/ 369724 w 510187"/>
              <a:gd name="connsiteY6" fmla="*/ 420815 h 559418"/>
              <a:gd name="connsiteX7" fmla="*/ 316445 w 510187"/>
              <a:gd name="connsiteY7" fmla="*/ 420815 h 559418"/>
              <a:gd name="connsiteX8" fmla="*/ 329361 w 510187"/>
              <a:gd name="connsiteY8" fmla="*/ 398252 h 559418"/>
              <a:gd name="connsiteX9" fmla="*/ 381026 w 510187"/>
              <a:gd name="connsiteY9" fmla="*/ 398252 h 559418"/>
              <a:gd name="connsiteX10" fmla="*/ 510187 w 510187"/>
              <a:gd name="connsiteY10" fmla="*/ 559418 h 559418"/>
              <a:gd name="connsiteX11" fmla="*/ 0 w 510187"/>
              <a:gd name="connsiteY11" fmla="*/ 559418 h 559418"/>
              <a:gd name="connsiteX12" fmla="*/ 254964 w 510187"/>
              <a:gd name="connsiteY12" fmla="*/ 79000 h 559418"/>
              <a:gd name="connsiteX13" fmla="*/ 175836 w 510187"/>
              <a:gd name="connsiteY13" fmla="*/ 159612 h 559418"/>
              <a:gd name="connsiteX14" fmla="*/ 254964 w 510187"/>
              <a:gd name="connsiteY14" fmla="*/ 238611 h 559418"/>
              <a:gd name="connsiteX15" fmla="*/ 335706 w 510187"/>
              <a:gd name="connsiteY15" fmla="*/ 159612 h 559418"/>
              <a:gd name="connsiteX16" fmla="*/ 254964 w 510187"/>
              <a:gd name="connsiteY16" fmla="*/ 79000 h 559418"/>
              <a:gd name="connsiteX17" fmla="*/ 254964 w 510187"/>
              <a:gd name="connsiteY17" fmla="*/ 0 h 559418"/>
              <a:gd name="connsiteX18" fmla="*/ 414834 w 510187"/>
              <a:gd name="connsiteY18" fmla="*/ 159612 h 559418"/>
              <a:gd name="connsiteX19" fmla="*/ 254964 w 510187"/>
              <a:gd name="connsiteY19" fmla="*/ 478835 h 559418"/>
              <a:gd name="connsiteX20" fmla="*/ 95093 w 510187"/>
              <a:gd name="connsiteY20" fmla="*/ 159612 h 559418"/>
              <a:gd name="connsiteX21" fmla="*/ 254964 w 510187"/>
              <a:gd name="connsiteY21" fmla="*/ 0 h 55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0" t="0" r="0" b="0"/>
            <a:pathLst>
              <a:path w="510187" h="559418">
                <a:moveTo>
                  <a:pt x="130776" y="398252"/>
                </a:moveTo>
                <a:lnTo>
                  <a:pt x="180826" y="398252"/>
                </a:lnTo>
                <a:cubicBezTo>
                  <a:pt x="185669" y="404699"/>
                  <a:pt x="190513" y="412757"/>
                  <a:pt x="195356" y="420815"/>
                </a:cubicBezTo>
                <a:lnTo>
                  <a:pt x="140463" y="420815"/>
                </a:lnTo>
                <a:lnTo>
                  <a:pt x="48435" y="535243"/>
                </a:lnTo>
                <a:lnTo>
                  <a:pt x="461752" y="535243"/>
                </a:lnTo>
                <a:lnTo>
                  <a:pt x="369724" y="420815"/>
                </a:lnTo>
                <a:lnTo>
                  <a:pt x="316445" y="420815"/>
                </a:lnTo>
                <a:cubicBezTo>
                  <a:pt x="319674" y="412757"/>
                  <a:pt x="324518" y="404699"/>
                  <a:pt x="329361" y="398252"/>
                </a:cubicBezTo>
                <a:lnTo>
                  <a:pt x="381026" y="398252"/>
                </a:lnTo>
                <a:lnTo>
                  <a:pt x="510187" y="559418"/>
                </a:lnTo>
                <a:lnTo>
                  <a:pt x="0" y="559418"/>
                </a:lnTo>
                <a:close/>
                <a:moveTo>
                  <a:pt x="254964" y="79000"/>
                </a:moveTo>
                <a:cubicBezTo>
                  <a:pt x="211363" y="79000"/>
                  <a:pt x="175836" y="116081"/>
                  <a:pt x="175836" y="159612"/>
                </a:cubicBezTo>
                <a:cubicBezTo>
                  <a:pt x="175836" y="203142"/>
                  <a:pt x="211363" y="238611"/>
                  <a:pt x="254964" y="238611"/>
                </a:cubicBezTo>
                <a:cubicBezTo>
                  <a:pt x="300179" y="238611"/>
                  <a:pt x="335706" y="203142"/>
                  <a:pt x="335706" y="159612"/>
                </a:cubicBezTo>
                <a:cubicBezTo>
                  <a:pt x="335706" y="116081"/>
                  <a:pt x="300179" y="79000"/>
                  <a:pt x="254964" y="79000"/>
                </a:cubicBezTo>
                <a:close/>
                <a:moveTo>
                  <a:pt x="254964" y="0"/>
                </a:moveTo>
                <a:cubicBezTo>
                  <a:pt x="343781" y="0"/>
                  <a:pt x="414834" y="70939"/>
                  <a:pt x="414834" y="159612"/>
                </a:cubicBezTo>
                <a:cubicBezTo>
                  <a:pt x="414834" y="246673"/>
                  <a:pt x="254964" y="478835"/>
                  <a:pt x="254964" y="478835"/>
                </a:cubicBezTo>
                <a:cubicBezTo>
                  <a:pt x="254964" y="478835"/>
                  <a:pt x="95093" y="246673"/>
                  <a:pt x="95093" y="159612"/>
                </a:cubicBezTo>
                <a:cubicBezTo>
                  <a:pt x="95093" y="70939"/>
                  <a:pt x="167761" y="0"/>
                  <a:pt x="254964" y="0"/>
                </a:cubicBezTo>
                <a:close/>
              </a:path>
            </a:pathLst>
          </a:custGeom>
          <a:solidFill>
            <a:schemeClr val="bg1"/>
          </a:solidFill>
          <a:ln>
            <a:noFill/>
          </a:ln>
        </p:spPr>
        <p:txBody>
          <a:bodyPr/>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4" name="标题 4"/>
          <p:cNvSpPr>
            <a:spLocks noGrp="1"/>
          </p:cNvSpPr>
          <p:nvPr>
            <p:ph type="title" idx="2147483647"/>
          </p:nvPr>
        </p:nvSpPr>
        <p:spPr/>
        <p:txBody>
          <a:bodyPr/>
          <a:lstStyle/>
          <a:p>
            <a:pPr>
              <a:buNone/>
            </a:pPr>
            <a:r>
              <a:rPr sz="3200">
                <a:latin typeface="华文楷体" panose="02010600040101010101" pitchFamily="2" charset="-122"/>
                <a:ea typeface="华文楷体" panose="02010600040101010101" pitchFamily="2" charset="-122"/>
              </a:rPr>
              <a:t>实验结果展示</a:t>
            </a:r>
            <a:endParaRPr sz="3200">
              <a:latin typeface="华文楷体" panose="02010600040101010101" pitchFamily="2" charset="-122"/>
              <a:ea typeface="华文楷体" panose="02010600040101010101" pitchFamily="2" charset="-122"/>
            </a:endParaRPr>
          </a:p>
        </p:txBody>
      </p:sp>
      <p:pic>
        <p:nvPicPr>
          <p:cNvPr id="1" name="图片 0" descr="result"/>
          <p:cNvPicPr>
            <a:picLocks noChangeAspect="1"/>
          </p:cNvPicPr>
          <p:nvPr/>
        </p:nvPicPr>
        <p:blipFill>
          <a:blip r:embed="rId4"/>
          <a:stretch>
            <a:fillRect/>
          </a:stretch>
        </p:blipFill>
        <p:spPr>
          <a:xfrm>
            <a:off x="4829175" y="1285240"/>
            <a:ext cx="7183120" cy="4749165"/>
          </a:xfrm>
          <a:prstGeom prst="rect">
            <a:avLst/>
          </a:prstGeom>
        </p:spPr>
      </p:pic>
      <p:sp>
        <p:nvSpPr>
          <p:cNvPr id="2" name="文本框 1"/>
          <p:cNvSpPr txBox="1"/>
          <p:nvPr/>
        </p:nvSpPr>
        <p:spPr>
          <a:xfrm>
            <a:off x="1033145" y="1736090"/>
            <a:ext cx="3480435" cy="2378710"/>
          </a:xfrm>
          <a:prstGeom prst="rect">
            <a:avLst/>
          </a:prstGeom>
          <a:noFill/>
        </p:spPr>
        <p:txBody>
          <a:bodyPr wrap="square">
            <a:spAutoFit/>
          </a:bodyPr>
          <a:lstStyle/>
          <a:p>
            <a:pPr marL="285750" indent="-285750">
              <a:lnSpc>
                <a:spcPct val="115000"/>
              </a:lnSpc>
              <a:spcAft>
                <a:spcPts val="800"/>
              </a:spcAft>
              <a:buFont typeface="Arial" panose="020B0604020202020204" pitchFamily="34" charset="0"/>
              <a:buChar char="•"/>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Shared Memory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CUDA Core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路径下带来有限提升</a:t>
            </a:r>
            <a:endPar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15000"/>
              </a:lnSpc>
              <a:spcAft>
                <a:spcPts val="800"/>
              </a:spcAft>
              <a:buFont typeface="Arial" panose="020B0604020202020204" pitchFamily="34" charset="0"/>
              <a:buChar char="•"/>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WMMA</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Tensor Core</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）显著提高吞吐</a:t>
            </a:r>
            <a:endPar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15000"/>
              </a:lnSpc>
              <a:spcAft>
                <a:spcPts val="800"/>
              </a:spcAft>
              <a:buFont typeface="Arial" panose="020B0604020202020204" pitchFamily="34" charset="0"/>
              <a:buChar char="•"/>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WMMA + Simple Shared Memory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在部分规模下出现性能回退</a:t>
            </a:r>
            <a:endPar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15000"/>
              </a:lnSpc>
              <a:spcAft>
                <a:spcPts val="800"/>
              </a:spcAft>
              <a:buFont typeface="Arial" panose="020B0604020202020204" pitchFamily="34" charset="0"/>
              <a:buChar char="•"/>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WMMA + Pipeline</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Double Buffer</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）达到最高性能</a:t>
            </a:r>
            <a:endPar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1033145" y="1169670"/>
            <a:ext cx="1956435" cy="4362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Observations</a:t>
            </a:r>
            <a:endParaRPr lang="en-US" altLang="zh-CN" b="1" dirty="0">
              <a:latin typeface="+mn-ea"/>
            </a:endParaRPr>
          </a:p>
        </p:txBody>
      </p:sp>
      <p:sp>
        <p:nvSpPr>
          <p:cNvPr id="3" name="文本框 2"/>
          <p:cNvSpPr txBox="1"/>
          <p:nvPr/>
        </p:nvSpPr>
        <p:spPr>
          <a:xfrm>
            <a:off x="1033145" y="4811395"/>
            <a:ext cx="3930650" cy="1781175"/>
          </a:xfrm>
          <a:prstGeom prst="rect">
            <a:avLst/>
          </a:prstGeom>
          <a:noFill/>
        </p:spPr>
        <p:txBody>
          <a:bodyPr wrap="square">
            <a:spAutoFit/>
          </a:bodyPr>
          <a:lstStyle/>
          <a:p>
            <a:pPr marL="285750" indent="-285750">
              <a:lnSpc>
                <a:spcPct val="115000"/>
              </a:lnSpc>
              <a:spcAft>
                <a:spcPts val="800"/>
              </a:spcAft>
              <a:buFont typeface="Arial" panose="020B0604020202020204" pitchFamily="34" charset="0"/>
              <a:buChar char="•"/>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Tensor Core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加速后，瓶颈从计算转移到数据搬运与同步</a:t>
            </a:r>
            <a:endPar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15000"/>
              </a:lnSpc>
              <a:spcAft>
                <a:spcPts val="800"/>
              </a:spcAft>
              <a:buFont typeface="Arial" panose="020B0604020202020204" pitchFamily="34" charset="0"/>
              <a:buChar char="•"/>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额外</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shared memory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拷贝与同步可能引入开销</a:t>
            </a:r>
            <a:endPar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15000"/>
              </a:lnSpc>
              <a:spcAft>
                <a:spcPts val="800"/>
              </a:spcAft>
              <a:buFont typeface="Arial" panose="020B0604020202020204" pitchFamily="34" charset="0"/>
              <a:buChar char="•"/>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Pipeline / Double Buffer </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通过重叠计算与数据加载，更好地</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吃满</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 Tensor Core</a:t>
            </a:r>
            <a:endPar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5"/>
          <p:cNvSpPr/>
          <p:nvPr/>
        </p:nvSpPr>
        <p:spPr>
          <a:xfrm>
            <a:off x="1033145" y="4244975"/>
            <a:ext cx="1956435" cy="4362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Explanation</a:t>
            </a:r>
            <a:endParaRPr lang="en-US" altLang="zh-CN" b="1" dirty="0">
              <a:latin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457200" y="428625"/>
            <a:ext cx="3457575" cy="10668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占位符 68"/>
          <p:cNvSpPr>
            <a:spLocks noGrp="1"/>
          </p:cNvSpPr>
          <p:nvPr>
            <p:ph type="body" sz="quarter" idx="10"/>
          </p:nvPr>
        </p:nvSpPr>
        <p:spPr>
          <a:xfrm>
            <a:off x="3348791" y="2563747"/>
            <a:ext cx="5494417" cy="1304820"/>
          </a:xfrm>
        </p:spPr>
        <p:txBody>
          <a:bodyPr>
            <a:noAutofit/>
          </a:bodyPr>
          <a:lstStyle/>
          <a:p>
            <a:r>
              <a:rPr lang="zh-CN" altLang="en-US" sz="8000" dirty="0"/>
              <a:t>谢谢大家！</a:t>
            </a:r>
            <a:endParaRPr lang="zh-CN" altLang="en-US" sz="8000" dirty="0"/>
          </a:p>
        </p:txBody>
      </p:sp>
      <p:sp>
        <p:nvSpPr>
          <p:cNvPr id="70" name="矩形 69"/>
          <p:cNvSpPr/>
          <p:nvPr/>
        </p:nvSpPr>
        <p:spPr>
          <a:xfrm>
            <a:off x="0" y="1081068"/>
            <a:ext cx="12192000" cy="7078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1"/>
          <a:srcRect r="35679"/>
          <a:stretch>
            <a:fillRect/>
          </a:stretch>
        </p:blipFill>
        <p:spPr>
          <a:xfrm>
            <a:off x="-233907" y="1282183"/>
            <a:ext cx="3607490" cy="860460"/>
          </a:xfrm>
          <a:prstGeom prst="rect">
            <a:avLst/>
          </a:prstGeom>
        </p:spPr>
      </p:pic>
    </p:spTree>
  </p:cSld>
  <p:clrMapOvr>
    <a:masterClrMapping/>
  </p:clrMapOvr>
</p:sld>
</file>

<file path=ppt/tags/tag1.xml><?xml version="1.0" encoding="utf-8"?>
<p:tagLst xmlns:p="http://schemas.openxmlformats.org/presentationml/2006/main">
  <p:tag name="KSO_WM_BEAUTIFY_FLAG" val=""/>
  <p:tag name="KSO_WM_DIAGRAM_VIRTUALLY_FRAME" val="{&quot;height&quot;:461.21724409448814,&quot;left&quot;:-1.5537007874015671,&quot;top&quot;:77.21259842519684,&quot;width&quot;:855.1037007874016}"/>
</p:tagLst>
</file>

<file path=ppt/tags/tag2.xml><?xml version="1.0" encoding="utf-8"?>
<p:tagLst xmlns:p="http://schemas.openxmlformats.org/presentationml/2006/main">
  <p:tag name="KSO_WM_BEAUTIFY_FLAG" val=""/>
  <p:tag name="KSO_WM_DIAGRAM_VIRTUALLY_FRAME" val="{&quot;height&quot;:461.21724409448814,&quot;left&quot;:-1.5537007874015671,&quot;top&quot;:77.21259842519684,&quot;width&quot;:855.1037007874016}"/>
</p:tagLst>
</file>

<file path=ppt/tags/tag3.xml><?xml version="1.0" encoding="utf-8"?>
<p:tagLst xmlns:p="http://schemas.openxmlformats.org/presentationml/2006/main">
  <p:tag name="KSO_WM_BEAUTIFY_FLAG" val=""/>
  <p:tag name="KSO_WM_DIAGRAM_VIRTUALLY_FRAME" val="{&quot;height&quot;:461.21724409448814,&quot;left&quot;:-1.5537007874015671,&quot;top&quot;:77.21259842519684,&quot;width&quot;:855.1037007874016}"/>
</p:tagLst>
</file>

<file path=ppt/tags/tag4.xml><?xml version="1.0" encoding="utf-8"?>
<p:tagLst xmlns:p="http://schemas.openxmlformats.org/presentationml/2006/main">
  <p:tag name="KSO_WM_BEAUTIFY_FLAG" val=""/>
  <p:tag name="KSO_WM_DIAGRAM_VIRTUALLY_FRAME" val="{&quot;height&quot;:461.21724409448814,&quot;left&quot;:-1.5537007874015671,&quot;top&quot;:77.21259842519684,&quot;width&quot;:855.1037007874016}"/>
</p:tagLst>
</file>

<file path=ppt/tags/tag5.xml><?xml version="1.0" encoding="utf-8"?>
<p:tagLst xmlns:p="http://schemas.openxmlformats.org/presentationml/2006/main">
  <p:tag name="KSO_WM_BEAUTIFY_FLAG" val=""/>
  <p:tag name="KSO_WM_DIAGRAM_VIRTUALLY_FRAME" val="{&quot;height&quot;:461.21724409448814,&quot;left&quot;:-1.5537007874015671,&quot;top&quot;:77.21259842519684,&quot;width&quot;:855.1037007874016}"/>
</p:tagLst>
</file>

<file path=ppt/tags/tag6.xml><?xml version="1.0" encoding="utf-8"?>
<p:tagLst xmlns:p="http://schemas.openxmlformats.org/presentationml/2006/main">
  <p:tag name="KSO_WM_BEAUTIFY_FLAG" val=""/>
  <p:tag name="KSO_WM_DIAGRAM_VIRTUALLY_FRAME" val="{&quot;height&quot;:461.21724409448814,&quot;left&quot;:-1.5537007874015671,&quot;top&quot;:77.21259842519684,&quot;width&quot;:855.1037007874016}"/>
</p:tagLst>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1027</Words>
  <Application>WPS 演示</Application>
  <PresentationFormat>宽屏</PresentationFormat>
  <Paragraphs>41</Paragraphs>
  <Slides>5</Slides>
  <Notes>16</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5</vt:i4>
      </vt:variant>
    </vt:vector>
  </HeadingPairs>
  <TitlesOfParts>
    <vt:vector size="26" baseType="lpstr">
      <vt:lpstr>Arial</vt:lpstr>
      <vt:lpstr>宋体</vt:lpstr>
      <vt:lpstr>Wingdings</vt:lpstr>
      <vt:lpstr>微软雅黑</vt:lpstr>
      <vt:lpstr>经典圆体简</vt:lpstr>
      <vt:lpstr>Arial</vt:lpstr>
      <vt:lpstr>仿宋</vt:lpstr>
      <vt:lpstr>华文楷体</vt:lpstr>
      <vt:lpstr>Times New Roman</vt:lpstr>
      <vt:lpstr>等线</vt:lpstr>
      <vt:lpstr>Calibri</vt:lpstr>
      <vt:lpstr>Arial Unicode MS</vt:lpstr>
      <vt:lpstr>等线 Light</vt:lpstr>
      <vt:lpstr>楷体</vt:lpstr>
      <vt:lpstr>字魂105号-简雅黑</vt:lpstr>
      <vt:lpstr>黑体</vt:lpstr>
      <vt:lpstr>BatangChe</vt:lpstr>
      <vt:lpstr>Segoe Print</vt:lpstr>
      <vt:lpstr>Cambria Math</vt:lpstr>
      <vt:lpstr>自定义设计方案</vt:lpstr>
      <vt:lpstr>1_自定义设计方案</vt:lpstr>
      <vt:lpstr>PowerPoint 演示文稿</vt:lpstr>
      <vt:lpstr>2.1 实验复现——复现思路</vt:lpstr>
      <vt:lpstr>从CUDA Core到Tensor Core</vt:lpstr>
      <vt:lpstr>从CUDA Core到Tensor Core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 Stella</dc:creator>
  <cp:lastModifiedBy>猫猫</cp:lastModifiedBy>
  <cp:revision>386</cp:revision>
  <dcterms:created xsi:type="dcterms:W3CDTF">2018-12-09T14:29:00Z</dcterms:created>
  <dcterms:modified xsi:type="dcterms:W3CDTF">2025-12-22T08:49:14Z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2019-04-13T09:21:34.3521271Z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8ba33e4d-f70c-4f8a-80c4-7b79b430a7ab</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6C5573F6F1F643B4B307DE1DB89127E8_13</vt:lpwstr>
  </property>
  <property fmtid="{D5CDD505-2E9C-101B-9397-08002B2CF9AE}" pid="12" name="KSOProductBuildVer">
    <vt:lpwstr>2052-12.1.0.24034</vt:lpwstr>
  </property>
</Properties>
</file>